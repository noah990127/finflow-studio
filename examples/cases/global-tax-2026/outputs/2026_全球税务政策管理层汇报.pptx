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模拟三类现金情景构成对比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补足税（百万美元）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Sheet1!$A$2:$A$4</c:f>
              <c:strCache>
                <c:ptCount val="3"/>
                <c:pt idx="0">
                  <c:v>上行情景</c:v>
                </c:pt>
                <c:pt idx="1">
                  <c:v>基准情景</c:v>
                </c:pt>
                <c:pt idx="2">
                  <c:v>下行情景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24.0</c:v>
                </c:pt>
                <c:pt idx="2">
                  <c:v>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CBAM（百万美元）</c:v>
                </c:pt>
              </c:strCache>
            </c:strRef>
          </c:tx>
          <c:spPr>
            <a:solidFill>
              <a:srgbClr val="26A69A"/>
            </a:solidFill>
            <a:ln>
              <a:solidFill>
                <a:srgbClr val="26A69A"/>
              </a:solidFill>
            </a:ln>
          </c:spPr>
          <c:cat>
            <c:strRef>
              <c:f>Sheet1!$A$2:$A$4</c:f>
              <c:strCache>
                <c:ptCount val="3"/>
                <c:pt idx="0">
                  <c:v>上行情景</c:v>
                </c:pt>
                <c:pt idx="1">
                  <c:v>基准情景</c:v>
                </c:pt>
                <c:pt idx="2">
                  <c:v>下行情景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11.0</c:v>
                </c:pt>
                <c:pt idx="1">
                  <c:v>18.0</c:v>
                </c:pt>
                <c:pt idx="2">
                  <c:v>31.0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合规（百万美元）</c:v>
                </c:pt>
              </c:strCache>
            </c:strRef>
          </c:tx>
          <c:spPr>
            <a:solidFill>
              <a:srgbClr val="F4B740"/>
            </a:solidFill>
            <a:ln>
              <a:solidFill>
                <a:srgbClr val="F4B740"/>
              </a:solidFill>
            </a:ln>
          </c:spPr>
          <c:cat>
            <c:strRef>
              <c:f>Sheet1!$A$2:$A$4</c:f>
              <c:strCache>
                <c:ptCount val="3"/>
                <c:pt idx="0">
                  <c:v>上行情景</c:v>
                </c:pt>
                <c:pt idx="1">
                  <c:v>基准情景</c:v>
                </c:pt>
                <c:pt idx="2">
                  <c:v>下行情景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8.0</c:v>
                </c:pt>
                <c:pt idx="1">
                  <c:v>9.0</c:v>
                </c:pt>
                <c:pt idx="2">
                  <c:v>13.0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数据整改（百万美元）</c:v>
                </c:pt>
              </c:strCache>
            </c:strRef>
          </c:tx>
          <c:spPr>
            <a:solidFill>
              <a:srgbClr val="D95763"/>
            </a:solidFill>
            <a:ln>
              <a:solidFill>
                <a:srgbClr val="D95763"/>
              </a:solidFill>
            </a:ln>
          </c:spPr>
          <c:cat>
            <c:strRef>
              <c:f>Sheet1!$A$2:$A$4</c:f>
              <c:strCache>
                <c:ptCount val="3"/>
                <c:pt idx="0">
                  <c:v>上行情景</c:v>
                </c:pt>
                <c:pt idx="1">
                  <c:v>基准情景</c:v>
                </c:pt>
                <c:pt idx="2">
                  <c:v>下行情景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4.0</c:v>
                </c:pt>
                <c:pt idx="1">
                  <c:v>6.0</c:v>
                </c:pt>
                <c:pt idx="2">
                  <c:v>10.0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模拟区域税务准备度对比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Pillar Two准备度（%）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Sheet1!$A$2:$A$7</c:f>
              <c:strCache>
                <c:ptCount val="6"/>
                <c:pt idx="0">
                  <c:v>欧盟</c:v>
                </c:pt>
                <c:pt idx="1">
                  <c:v>美国</c:v>
                </c:pt>
                <c:pt idx="2">
                  <c:v>亚太</c:v>
                </c:pt>
                <c:pt idx="3">
                  <c:v>中东</c:v>
                </c:pt>
                <c:pt idx="4">
                  <c:v>拉美</c:v>
                </c:pt>
                <c:pt idx="5">
                  <c:v>非洲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82.0</c:v>
                </c:pt>
                <c:pt idx="1">
                  <c:v>64.0</c:v>
                </c:pt>
                <c:pt idx="2">
                  <c:v>58.0</c:v>
                </c:pt>
                <c:pt idx="3">
                  <c:v>47.0</c:v>
                </c:pt>
                <c:pt idx="4">
                  <c:v>41.0</c:v>
                </c:pt>
                <c:pt idx="5">
                  <c:v>33.0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电子发票准备度（%）</c:v>
                </c:pt>
              </c:strCache>
            </c:strRef>
          </c:tx>
          <c:spPr>
            <a:solidFill>
              <a:srgbClr val="26A69A"/>
            </a:solidFill>
            <a:ln>
              <a:solidFill>
                <a:srgbClr val="26A69A"/>
              </a:solidFill>
            </a:ln>
          </c:spPr>
          <c:cat>
            <c:strRef>
              <c:f>Sheet1!$A$2:$A$7</c:f>
              <c:strCache>
                <c:ptCount val="6"/>
                <c:pt idx="0">
                  <c:v>欧盟</c:v>
                </c:pt>
                <c:pt idx="1">
                  <c:v>美国</c:v>
                </c:pt>
                <c:pt idx="2">
                  <c:v>亚太</c:v>
                </c:pt>
                <c:pt idx="3">
                  <c:v>中东</c:v>
                </c:pt>
                <c:pt idx="4">
                  <c:v>拉美</c:v>
                </c:pt>
                <c:pt idx="5">
                  <c:v>非洲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71.0</c:v>
                </c:pt>
                <c:pt idx="1">
                  <c:v>55.0</c:v>
                </c:pt>
                <c:pt idx="2">
                  <c:v>62.0</c:v>
                </c:pt>
                <c:pt idx="3">
                  <c:v>44.0</c:v>
                </c:pt>
                <c:pt idx="4">
                  <c:v>38.0</c:v>
                </c:pt>
                <c:pt idx="5">
                  <c:v>29.0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模拟实体综合风险分数排名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风险分数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Sheet1!$A$2:$A$9</c:f>
              <c:strCache>
                <c:ptCount val="8"/>
                <c:pt idx="0">
                  <c:v>EU-PL-01</c:v>
                </c:pt>
                <c:pt idx="1">
                  <c:v>BR-01</c:v>
                </c:pt>
                <c:pt idx="2">
                  <c:v>AE-01</c:v>
                </c:pt>
                <c:pt idx="3">
                  <c:v>EU-NL-01</c:v>
                </c:pt>
                <c:pt idx="4">
                  <c:v>EU-DE-01</c:v>
                </c:pt>
                <c:pt idx="5">
                  <c:v>SG-01</c:v>
                </c:pt>
                <c:pt idx="6">
                  <c:v>CN-01</c:v>
                </c:pt>
                <c:pt idx="7">
                  <c:v>US-CA-01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37.65</c:v>
                </c:pt>
                <c:pt idx="1">
                  <c:v>36.25</c:v>
                </c:pt>
                <c:pt idx="2">
                  <c:v>35.65</c:v>
                </c:pt>
                <c:pt idx="3">
                  <c:v>34.5</c:v>
                </c:pt>
                <c:pt idx="4">
                  <c:v>32.4</c:v>
                </c:pt>
                <c:pt idx="5">
                  <c:v>24.05</c:v>
                </c:pt>
                <c:pt idx="6">
                  <c:v>21.25</c:v>
                </c:pt>
                <c:pt idx="7">
                  <c:v>19.4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模拟实体观察税率对比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观察税率（%）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Sheet1!$A$2:$A$9</c:f>
              <c:strCache>
                <c:ptCount val="8"/>
                <c:pt idx="0">
                  <c:v>EU-PL-01</c:v>
                </c:pt>
                <c:pt idx="1">
                  <c:v>AE-01</c:v>
                </c:pt>
                <c:pt idx="2">
                  <c:v>SG-01</c:v>
                </c:pt>
                <c:pt idx="3">
                  <c:v>EU-NL-01</c:v>
                </c:pt>
                <c:pt idx="4">
                  <c:v>EU-DE-01</c:v>
                </c:pt>
                <c:pt idx="5">
                  <c:v>CN-01</c:v>
                </c:pt>
                <c:pt idx="6">
                  <c:v>US-CA-01</c:v>
                </c:pt>
                <c:pt idx="7">
                  <c:v>BR-01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5.58</c:v>
                </c:pt>
                <c:pt idx="1">
                  <c:v>8.06</c:v>
                </c:pt>
                <c:pt idx="2">
                  <c:v>8.37</c:v>
                </c:pt>
                <c:pt idx="3">
                  <c:v>8.47</c:v>
                </c:pt>
                <c:pt idx="4">
                  <c:v>12.04</c:v>
                </c:pt>
                <c:pt idx="5">
                  <c:v>12.46</c:v>
                </c:pt>
                <c:pt idx="6">
                  <c:v>14.88</c:v>
                </c:pt>
                <c:pt idx="7">
                  <c:v>13.33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模拟CBAM进口额实体分布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CBAM进口额（百万美元）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Sheet1!$A$2:$A$4</c:f>
              <c:strCache>
                <c:ptCount val="3"/>
                <c:pt idx="0">
                  <c:v>EU-PL-01</c:v>
                </c:pt>
                <c:pt idx="1">
                  <c:v>EU-DE-01</c:v>
                </c:pt>
                <c:pt idx="2">
                  <c:v>EU-NL-01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55.0</c:v>
                </c:pt>
                <c:pt idx="1">
                  <c:v>42.0</c:v>
                </c:pt>
                <c:pt idx="2">
                  <c:v>18.0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模拟欧盟实体交易量对比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交易笔数（笔）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Sheet1!$A$2:$A$4</c:f>
              <c:strCache>
                <c:ptCount val="3"/>
                <c:pt idx="0">
                  <c:v>EU-DE-01</c:v>
                </c:pt>
                <c:pt idx="1">
                  <c:v>EU-NL-01</c:v>
                </c:pt>
                <c:pt idx="2">
                  <c:v>EU-PL-01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680000.0</c:v>
                </c:pt>
                <c:pt idx="1">
                  <c:v>510000.0</c:v>
                </c:pt>
                <c:pt idx="2">
                  <c:v>290000.0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模拟情景现金影响总额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现金影响（百万美元）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Sheet1!$A$2:$A$4</c:f>
              <c:strCache>
                <c:ptCount val="3"/>
                <c:pt idx="0">
                  <c:v>上行情景</c:v>
                </c:pt>
                <c:pt idx="1">
                  <c:v>基准情景</c:v>
                </c:pt>
                <c:pt idx="2">
                  <c:v>下行情景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57.0</c:v>
                </c:pt>
                <c:pt idx="2">
                  <c:v>100.0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107899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10241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56231"/>
            <a:ext cx="982980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2026 全球税务政策管理层汇报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38328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政策变化、现金风险与 90 天行动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078224"/>
            <a:ext cx="1243584" cy="6400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530352"/>
            <a:ext cx="1508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144768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企业汇报 · Classic 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52760" y="5157216"/>
            <a:ext cx="594360" cy="457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税务运营进入执行落地期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Pillar Two与CBAM进入执行期，现金压力及证据缺口需同步管控。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[7]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模拟情景现金影响为3,500万至1亿美元，非已发生税负。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[7]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执行时点叠加区域差异，可能放大现金预测波动。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[9]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[7]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三项政策节点主导年度节奏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27632"/>
            <a:ext cx="4224528" cy="4407408"/>
          </a:xfrm>
          <a:prstGeom prst="rect">
            <a:avLst/>
          </a:prstGeom>
          <a:solidFill>
            <a:srgbClr val="22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99339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5E5E7"/>
                </a:solidFill>
                <a:latin typeface="Microsoft YaHei"/>
                <a:ea typeface="Microsoft YaHei"/>
                <a:cs typeface="Microsoft YaHei"/>
              </a:rPr>
              <a:t>业务判断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578608"/>
            <a:ext cx="35204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2026年应围绕CBAM、GIR与ViDA节点安排申报、测试和资源。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5102352"/>
            <a:ext cx="105156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17647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746504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CBAM正式阶段自2026年1月1日起适用欧盟涵盖商品进口。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6128" y="2788920"/>
            <a:ext cx="5212080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311810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099816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GIR准备节点为2026年5月31日，涉及集中申报与交换。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6128" y="4142232"/>
            <a:ext cx="5212080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447141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4453128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ViDA于2026年处于准备期，成员国实施日期须逐项确认。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[6]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Pillar Two转向常态申报运营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27632"/>
            <a:ext cx="3703320" cy="4407408"/>
          </a:xfrm>
          <a:prstGeom prst="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27632"/>
            <a:ext cx="91440" cy="440740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9842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42032"/>
            <a:ext cx="2926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990008"/>
                </a:solidFill>
                <a:latin typeface="Microsoft YaHei"/>
                <a:ea typeface="Microsoft YaHei"/>
                <a:cs typeface="Microsoft YaHei"/>
              </a:rPr>
              <a:t>重点关注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56432"/>
            <a:ext cx="28529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工作重点已从规则理解转向GIR、交换关系和数据控制。</a:t>
            </a:r>
            <a:r>
              <a:rPr sz="10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10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34924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数据口径以工作流上游结果为准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79222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719072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GloBE计算需连接法人、所有权、财务账户及税务数据。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[15]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779776"/>
            <a:ext cx="5870448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19125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118104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集中申报与辖区门户差异将增加跨区域协同复杂度。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4178808"/>
            <a:ext cx="5870448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5902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517136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开展GIR演练，并逐项验证安全港、调整项和申报字段。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[7]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低准备度区域决定交付风险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非洲、拉美和中东双维准备度最低，应优先补强能力。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[9]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非洲两项准备度为33%和29%，均为六区域最低。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[9]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欧盟准备度较高，但同时承受CBAM与ViDA执行压力。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[9]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五家实体应进入优先整改池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EU-PL-01风险最高，BR-01范围不确定性需先消除。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前五位包括EU-PL-01、BR-01、AE-01及两家欧盟实体。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排名为模拟管理结果，不代表法定风险或最终税负。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低观察税率不等于补足税结论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四家实体观察税率低于9%，但须按GloBE口径重新验证。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EU-PL-01观察税率为5.58%，数据完整度为79%。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AE-01数据完整度仅68%，现阶段验证基础较弱。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CBAM暴露集中于三家欧盟实体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三家实体进口额合计1.15亿美元，控制链路需尽快贯通。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EU-PL-01占三家合计进口额47.8%，暴露最集中。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进口额不等同证书成本，不能直接作为现金支出口径。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ViDA测试应从德国实体启动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EU-DE-01交易量最高，最适合验证性能、连续性与数据链路。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EU-DE-01交易量为680,000笔，高于另两家欧盟实体。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三家欧盟实体电子发票准备度均为71%。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[9]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[6]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美国税负判断仍受证据约束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27632"/>
            <a:ext cx="3703320" cy="4407408"/>
          </a:xfrm>
          <a:prstGeom prst="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27632"/>
            <a:ext cx="91440" cy="440740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9842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42032"/>
            <a:ext cx="2926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990008"/>
                </a:solidFill>
                <a:latin typeface="Microsoft YaHei"/>
                <a:ea typeface="Microsoft YaHei"/>
                <a:cs typeface="Microsoft YaHei"/>
              </a:rPr>
              <a:t>重点关注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56432"/>
            <a:ext cx="28529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现有依据仅支持BEAT与Form 8991核查，其他影响暂不能确认。</a:t>
            </a:r>
            <a:r>
              <a:rPr sz="10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34924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数据口径以工作流上游结果为准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79222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719072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官方材料可支持BEAT及Form 8991申报要求核查。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779776"/>
            <a:ext cx="5870448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19125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118104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第163(j)条、CAMT及能源激励依据仍待补充。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4178808"/>
            <a:ext cx="5870448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5902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517136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建立法规年度、适用范围、数据字段和表格验证矩阵。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[11]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[12]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联合国谈判属于中期政策信号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27632"/>
            <a:ext cx="4224528" cy="4407408"/>
          </a:xfrm>
          <a:prstGeom prst="rect">
            <a:avLst/>
          </a:prstGeom>
          <a:solidFill>
            <a:srgbClr val="22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99339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5E5E7"/>
                </a:solidFill>
                <a:latin typeface="Microsoft YaHei"/>
                <a:ea typeface="Microsoft YaHei"/>
                <a:cs typeface="Microsoft YaHei"/>
              </a:rPr>
              <a:t>业务判断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578608"/>
            <a:ext cx="35204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框架公约谈判尚非生效法律，应监测而不提前确认税负。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[25]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5102352"/>
            <a:ext cx="105156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17647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746504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谈判期为2025—2027年，2026年持续实质性会议。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6128" y="2788920"/>
            <a:ext cx="5212080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311810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099816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潜在规则变化可能影响跨境税收治理与政策协调。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[25]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6128" y="4142232"/>
            <a:ext cx="5212080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447141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4453128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纳入季度政策观察，并区分谈判文本与已生效规则。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[11]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[7]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下行情景现金影响接近基准两倍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模拟现金影响由3,500万升至1亿美元，预测需设置触发阈值。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上行、基准、下行情景总影响为35、57、100百万美元。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补足税与CBAM是情景波动的主要现金驱动项。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[3]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数据血缘缺口阻碍可审计交付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27632"/>
            <a:ext cx="3703320" cy="4407408"/>
          </a:xfrm>
          <a:prstGeom prst="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27632"/>
            <a:ext cx="91440" cy="440740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9842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42032"/>
            <a:ext cx="2926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990008"/>
                </a:solidFill>
                <a:latin typeface="Microsoft YaHei"/>
                <a:ea typeface="Microsoft YaHei"/>
                <a:cs typeface="Microsoft YaHei"/>
              </a:rPr>
              <a:t>重点关注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56432"/>
            <a:ext cx="285292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三类税务工作均依赖跨系统字段，证据链完整性是共同瓶颈。</a:t>
            </a:r>
            <a:r>
              <a:rPr sz="10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[15]</a:t>
            </a:r>
            <a:r>
              <a:rPr sz="10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[16]</a:t>
            </a:r>
            <a:r>
              <a:rPr sz="10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[17]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34924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数据口径以工作流上游结果为准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79222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719072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Pillar Two需法人、财税、薪酬及有形资产数据。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[15]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779776"/>
            <a:ext cx="5870448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19125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118104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CBAM与ViDA分别依赖排放凭证和交易级报告状态。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[16]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[17]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4178808"/>
            <a:ext cx="5870448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5902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517136"/>
            <a:ext cx="52303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建立字段责任人、来源、对账规则及证据留存标准。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[19]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[8]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[10]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[15]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[14]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[16]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九十天完成控制闭环并锁定决策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816352"/>
            <a:ext cx="9601200" cy="3657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1" y="2350008"/>
            <a:ext cx="56692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182112"/>
            <a:ext cx="2162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责任动作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657600"/>
            <a:ext cx="21442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以盘点、试运行、签字三阶段推进，并由管理层解除关键依赖。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[10]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5012" y="2350008"/>
            <a:ext cx="566928" cy="566928"/>
          </a:xfrm>
          <a:prstGeom prst="rect">
            <a:avLst/>
          </a:prstGeom>
          <a:solidFill>
            <a:srgbClr val="99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5012" y="3182112"/>
            <a:ext cx="2162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责任动作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5012" y="3657600"/>
            <a:ext cx="21442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30天盘点重点实体缺口，并复核BR-01适用范围。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2350008"/>
            <a:ext cx="566928" cy="566928"/>
          </a:xfrm>
          <a:prstGeom prst="rect">
            <a:avLst/>
          </a:prstGeom>
          <a:solidFill>
            <a:srgbClr val="99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3182112"/>
            <a:ext cx="2162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责任动作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657600"/>
            <a:ext cx="21442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60天完成GIR演练与CBAM端到端测试；90天形成证据包。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8492" y="2350008"/>
            <a:ext cx="566928" cy="566928"/>
          </a:xfrm>
          <a:prstGeom prst="rect">
            <a:avLst/>
          </a:prstGeom>
          <a:solidFill>
            <a:srgbClr val="99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8492" y="3182112"/>
            <a:ext cx="2162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责任动作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8492" y="3657600"/>
            <a:ext cx="21442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管理层需批准资源、风险阈值、情景口径及升级机制。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[7]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[10]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[16]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tax_policy_events.csv[EB/OL]. type table, rows 1:8, char_start 0, char_end 1062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9696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jurisdiction_readiness.csv[EB/OL]. type table, rows 1:7, char_start 0, char_end 452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0662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全球税务项目实施手册_模拟.docx[EB/OL]. type word, para. 1, char_start 0, char_end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全球税务项目实施手册_模拟.docx[EB/OL]. type word, para. 3, char_start 0, char_end 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全球税务项目实施手册_模拟.docx[EB/OL]. type word, para. 4, char_start 0, char_end 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07408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tax_scenario_assumptions.csv[EB/OL]. type table, rows 1:4, char_start 0, char_end 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74336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[7]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2026全球税务政策趋势简报.pdf[EB/OL]. type pdf, p. 1, char_start 0, char_end 416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4126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[8]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全球税务项目实施手册_模拟.docx[EB/OL]. type word, para. 11, char_start 0, char_end 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参考文献（续）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[9]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2026全球税务政策趋势简报.pdf[EB/OL]. type pdf, p. 2, char_start 0, char_end 672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9696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[10]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全球税务项目实施手册_模拟.docx[EB/OL]. type word, para. 12, char_start 0, char_end 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0662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[11]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tax_analysis_policy.md[EB/OL]. type text, start 0, char_start 0, char_end 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[12]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IRS Form 8991 与 BEAT 指引[EB/OL]. https://www.irs.gov/forms-pubs/about-form-8991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[13]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联合国国际税收合作框架公约谈判[EB/OL]. https://financing.desa.un.org/inc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07408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[14]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全球税务项目实施手册_模拟.docx[EB/OL]. type word, para. 15, char_start 0, char_end 178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74336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[15]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全球税务项目实施手册_模拟.docx[EB/OL]. type word, para. 13, char_start 0, char_end 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4126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[16]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全球税务项目实施手册_模拟.docx[EB/OL]. type word_table, table 1, char_start 0, char_end 288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