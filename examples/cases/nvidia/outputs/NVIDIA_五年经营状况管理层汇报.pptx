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五年收入与利润趋势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26914.0</c:v>
                </c:pt>
                <c:pt idx="1">
                  <c:v>26974.0</c:v>
                </c:pt>
                <c:pt idx="2">
                  <c:v>60922.0</c:v>
                </c:pt>
                <c:pt idx="3">
                  <c:v>130497.0</c:v>
                </c:pt>
                <c:pt idx="4">
                  <c:v>215938.0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营业利润（百万美元）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10041.0</c:v>
                </c:pt>
                <c:pt idx="1">
                  <c:v>4224.0</c:v>
                </c:pt>
                <c:pt idx="2">
                  <c:v>32972.0</c:v>
                </c:pt>
                <c:pt idx="3">
                  <c:v>81453.0</c:v>
                </c:pt>
                <c:pt idx="4">
                  <c:v>130387.0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净利润（百万美元）</c:v>
                </c:pt>
              </c:strCache>
            </c:strRef>
          </c:tx>
          <c:spPr>
            <a:solidFill>
              <a:srgbClr val="F4B740"/>
            </a:solidFill>
            <a:ln>
              <a:solidFill>
                <a:srgbClr val="F4B740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9752.0</c:v>
                </c:pt>
                <c:pt idx="1">
                  <c:v>4368.0</c:v>
                </c:pt>
                <c:pt idx="2">
                  <c:v>29760.0</c:v>
                </c:pt>
                <c:pt idx="3">
                  <c:v>72880.0</c:v>
                </c:pt>
                <c:pt idx="4">
                  <c:v>120067.0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收入增长阶段分解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收入同比增速（%）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</c:v>
                </c:pt>
                <c:pt idx="1">
                  <c:v>125.85</c:v>
                </c:pt>
                <c:pt idx="2">
                  <c:v>114.2</c:v>
                </c:pt>
                <c:pt idx="3">
                  <c:v>65.47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数据中心与游戏收入结构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数据中心收入（百万美元）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10613.0</c:v>
                </c:pt>
                <c:pt idx="1">
                  <c:v>15005.0</c:v>
                </c:pt>
                <c:pt idx="2">
                  <c:v>47525.0</c:v>
                </c:pt>
                <c:pt idx="3">
                  <c:v>115186.0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游戏收入（百万美元）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12462.0</c:v>
                </c:pt>
                <c:pt idx="1">
                  <c:v>9067.0</c:v>
                </c:pt>
                <c:pt idx="2">
                  <c:v>10447.0</c:v>
                </c:pt>
                <c:pt idx="3">
                  <c:v>11350.0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五年毛利率变化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毛利率（%）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64.9</c:v>
                </c:pt>
                <c:pt idx="1">
                  <c:v>56.9</c:v>
                </c:pt>
                <c:pt idx="2">
                  <c:v>72.7</c:v>
                </c:pt>
                <c:pt idx="3">
                  <c:v>75.0</c:v>
                </c:pt>
                <c:pt idx="4">
                  <c:v>71.1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净利润与经营现金流趋势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净利润（百万美元）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9752.0</c:v>
                </c:pt>
                <c:pt idx="1">
                  <c:v>4368.0</c:v>
                </c:pt>
                <c:pt idx="2">
                  <c:v>29760.0</c:v>
                </c:pt>
                <c:pt idx="3">
                  <c:v>72880.0</c:v>
                </c:pt>
                <c:pt idx="4">
                  <c:v>120067.0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经营现金流（百万美元）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9108.0</c:v>
                </c:pt>
                <c:pt idx="1">
                  <c:v>5641.0</c:v>
                </c:pt>
                <c:pt idx="2">
                  <c:v>28090.0</c:v>
                </c:pt>
                <c:pt idx="3">
                  <c:v>64089.0</c:v>
                </c:pt>
                <c:pt idx="4">
                  <c:v>102718.0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研发投入与费用率变化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研发费用（百万美元）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5268.0</c:v>
                </c:pt>
                <c:pt idx="1">
                  <c:v>7339.0</c:v>
                </c:pt>
                <c:pt idx="2">
                  <c:v>8675.0</c:v>
                </c:pt>
                <c:pt idx="3">
                  <c:v>12914.0</c:v>
                </c:pt>
                <c:pt idx="4">
                  <c:v>18497.0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研发费用率（%）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Sheet1!$A$2:$A$6</c:f>
              <c:strCache>
                <c:ptCount val="5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  <c:pt idx="4">
                  <c:v>FY2026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19.57</c:v>
                </c:pt>
                <c:pt idx="1">
                  <c:v>27.21</c:v>
                </c:pt>
                <c:pt idx="2">
                  <c:v>14.24</c:v>
                </c:pt>
                <c:pt idx="3">
                  <c:v>9.9</c:v>
                </c:pt>
                <c:pt idx="4">
                  <c:v>8.57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库存与收入增速对比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库存同比增速（%）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98.04</c:v>
                </c:pt>
                <c:pt idx="1">
                  <c:v>2.38</c:v>
                </c:pt>
                <c:pt idx="2">
                  <c:v>90.84</c:v>
                </c:pt>
                <c:pt idx="3">
                  <c:v>112.33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收入同比增速（%）</c:v>
                </c:pt>
              </c:strCache>
            </c:strRef>
          </c:tx>
          <c:spPr>
            <a:solidFill>
              <a:srgbClr val="26A69A"/>
            </a:solidFill>
            <a:ln>
              <a:solidFill>
                <a:srgbClr val="26A69A"/>
              </a:solidFill>
            </a:ln>
          </c:spPr>
          <c:cat>
            <c:strRef>
              <c:f>Sheet1!$A$2:$A$5</c:f>
              <c:strCache>
                <c:ptCount val="4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FY2026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0.22</c:v>
                </c:pt>
                <c:pt idx="1">
                  <c:v>125.85</c:v>
                </c:pt>
                <c:pt idx="2">
                  <c:v>114.2</c:v>
                </c:pt>
                <c:pt idx="3">
                  <c:v>65.47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800">
                <a:latin typeface="Microsoft YaHei"/>
              </a:defRPr>
            </a:pPr>
            <a:r>
              <a:t>季度与年度勾稽差异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差异（百万美元）</c:v>
                </c:pt>
              </c:strCache>
            </c:strRef>
          </c:tx>
          <c:spPr>
            <a:solidFill>
              <a:srgbClr val="C7000B"/>
            </a:solidFill>
            <a:ln>
              <a:solidFill>
                <a:srgbClr val="C7000B"/>
              </a:solidFill>
            </a:ln>
          </c:spPr>
          <c:cat>
            <c:strRef>
              <c:f>Sheet1!$A$2:$A$6</c:f>
              <c:strCache>
                <c:ptCount val="5"/>
                <c:pt idx="0">
                  <c:v>FY2025数据中心收入</c:v>
                </c:pt>
                <c:pt idx="1">
                  <c:v>FY2025经营现金流</c:v>
                </c:pt>
                <c:pt idx="2">
                  <c:v>FY2026营业利润</c:v>
                </c:pt>
                <c:pt idx="3">
                  <c:v>FY2026经营现金流</c:v>
                </c:pt>
                <c:pt idx="4">
                  <c:v>FY2026库存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114.0</c:v>
                </c:pt>
                <c:pt idx="1">
                  <c:v>-386.0</c:v>
                </c:pt>
                <c:pt idx="2">
                  <c:v>913.0</c:v>
                </c:pt>
                <c:pt idx="3">
                  <c:v>18682.0</c:v>
                </c:pt>
                <c:pt idx="4">
                  <c:v>-7203.0</c:v>
                </c:pt>
              </c:numCache>
            </c:numRef>
          </c:val>
        </c:ser>
        <c:axId val="2226939960"/>
        <c:axId val="2180972856"/>
      </c:barChart>
      <c:catAx>
        <c:axId val="222693996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180972856"/>
        <c:crosses val="autoZero"/>
        <c:auto val="1"/>
        <c:lblAlgn val="ctr"/>
        <c:lblOffset val="100"/>
        <c:noMultiLvlLbl val="0"/>
      </c:catAx>
      <c:valAx>
        <c:axId val="218097285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icrosoft YaHei"/>
              </a:defRPr>
            </a:pPr>
          </a:p>
        </c:txPr>
        <c:crossAx val="222693996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107899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1024128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56231"/>
            <a:ext cx="982980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2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NVIDIA 五年经营状况管理层汇报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38328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FY2022-FY2026 增长质量与风险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078224"/>
            <a:ext cx="1243584" cy="6400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29800" y="530352"/>
            <a:ext cx="1508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6144768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企业汇报 · Classic 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52760" y="5157216"/>
            <a:ext cx="594360" cy="4572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增长延续但质量指标分化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09344"/>
            <a:ext cx="91440" cy="43159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73736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核心判断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267712"/>
            <a:ext cx="51206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FY2026收入、利润与现金流继续增长，但毛利率、库存和现金转化承压。</a:t>
            </a:r>
            <a:r>
              <a:rPr sz="14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14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5296" y="4791456"/>
            <a:ext cx="1225296" cy="6400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709928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673352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FY2026收入同比增长65.47%，库存同比增长112.33%。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48272" y="2697480"/>
            <a:ext cx="4279392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48272" y="3099816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063240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毛利率降至71.1%，距70%监控线仅1.1个百分点。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48272" y="4087368"/>
            <a:ext cx="4279392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8272" y="4489704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453128"/>
            <a:ext cx="36576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管理层应将增长质量置于规模扩张后的首要议题。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规模跃升后进入高基数增长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FY2024起收入与利润跃升，FY2026仍增长但增速较前两年回落。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FY2023收入近乎停滞，营业利润和净利润同步收缩。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FY2024至FY2026收入、营业利润和净利润持续扩张。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增长经历停滞跃升与放缓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收入增长由FY2023停滞转向两年跃升，FY2026进入高基数放缓阶段。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收入增速由FY2023的0.22%升至FY2024的125.85%。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FY2025增速114.2%，FY2026回落至65.47%。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数据中心集中度持续上升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收入重心快速迁移至数据中心，规模弹性与关键业务依赖同步增强。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FY2022至FY2025数据中心收入由10,613增至115,186百万美元。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同期游戏收入由12,462降至11,350百万美元。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毛利修复后盈利缓冲收窄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毛利率从周期低点显著修复，但FY2026回落使产品切换缓冲缩小。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FY2023毛利率56.9%，为五年周期低点。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FY2025毛利率升至75.0%，FY2026回落至71.1%。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现金扩张未阻止转化走弱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经营现金流创五年新高，但相对净利润的转化率连续两年下降。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FY2026经营现金流达102,718百万美元。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现金转化率由FY2024的94.39%降至FY2026的85.55%。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研发扩张释放费用杠杆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研发绝对投入持续增加，收入扩张推动研发费用率显著下降。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研发费用由FY2022的5,268增至FY2026的18,497百万美元。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研发费用率由FY2023的27.21%降至FY2026的8.57%。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库存增速已触发专项监控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FY2026库存增长显著快于收入，产品切换和现金占用风险上升。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库存由FY2025的10,080增至FY2026的21,403百万美元。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FY2026库存增速112.33%，高于收入增速65.47%。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季度动能判断受勾稽差异约束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68680" y="1572768"/>
          <a:ext cx="6720840" cy="44074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73568" y="166420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21671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季度与年度数据存在重大差异，当前季度动能不宜直接用于估值。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3374136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FY2026经营现金流勾稽差异为18,682百万美元。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4599432"/>
            <a:ext cx="2670048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差异削弱季度趋势与年度结果的可比性和可信度。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6199632"/>
            <a:ext cx="6583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图表来源：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[2]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集中与监管放大交付风险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18488"/>
            <a:ext cx="4800600" cy="1810512"/>
          </a:xfrm>
          <a:prstGeom prst="rect">
            <a:avLst/>
          </a:prstGeom>
          <a:solidFill>
            <a:srgbClr val="F5E5E7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8196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立即处理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04288"/>
            <a:ext cx="42519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客户集中、供应承诺和出口管制共同提高收入兑现的不确定性。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618488"/>
            <a:ext cx="480060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19656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重点跟踪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04288"/>
            <a:ext cx="42519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单一客户占比超过10%即纳入季度集中度测试。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22191"/>
            <a:ext cx="480060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402335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计划改善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507992"/>
            <a:ext cx="42519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采购承诺计划偏差超过10%应触发月度复核。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822191"/>
            <a:ext cx="480060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59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990008"/>
                </a:solidFill>
                <a:latin typeface="Microsoft YaHei"/>
                <a:ea typeface="Microsoft YaHei"/>
                <a:cs typeface="Microsoft YaHei"/>
              </a:rPr>
              <a:t>持续监测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07992"/>
            <a:ext cx="42519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出口政策变化需由法务与财务按月联合监控。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[3]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情景指标应前置触发响应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627632"/>
            <a:ext cx="4224528" cy="4407408"/>
          </a:xfrm>
          <a:prstGeom prst="rect">
            <a:avLst/>
          </a:prstGeom>
          <a:solidFill>
            <a:srgbClr val="222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199339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5E5E7"/>
                </a:solidFill>
                <a:latin typeface="Microsoft YaHei"/>
                <a:ea typeface="Microsoft YaHei"/>
                <a:cs typeface="Microsoft YaHei"/>
              </a:rPr>
              <a:t>业务判断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578608"/>
            <a:ext cx="35204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用毛利率、库存、客户和政策指标建立分层预警与情景响应。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[20]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5102352"/>
            <a:ext cx="1051560" cy="54864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96128" y="176479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1746504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毛利率低于70%为季度预警门槛，FY2026为71.1%。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6128" y="2788920"/>
            <a:ext cx="5212080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6128" y="311810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3099816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库存增速高于收入增速时启动供应链专项审查。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4142232"/>
            <a:ext cx="5212080" cy="1371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6128" y="447141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4453128"/>
            <a:ext cx="45720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客户集中按季测试，出口许可与采购承诺按月测试。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下一阶段先修数据再控风险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1298448" y="2788920"/>
            <a:ext cx="9144000" cy="36576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4128" y="2487168"/>
            <a:ext cx="566928" cy="56692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337560"/>
            <a:ext cx="21328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730752"/>
            <a:ext cx="211455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近期动作应聚焦数据可信度、产品切换透明度与风险责任闭环。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[17]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2998" y="2487168"/>
            <a:ext cx="566928" cy="566928"/>
          </a:xfrm>
          <a:prstGeom prst="rect">
            <a:avLst/>
          </a:prstGeom>
          <a:solidFill>
            <a:srgbClr val="99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2998" y="3337560"/>
            <a:ext cx="21328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2998" y="3730752"/>
            <a:ext cx="211455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立即统一年度与季度口径，禁止未验证数据进入估值。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1868" y="2487168"/>
            <a:ext cx="566928" cy="566928"/>
          </a:xfrm>
          <a:prstGeom prst="rect">
            <a:avLst/>
          </a:prstGeom>
          <a:solidFill>
            <a:srgbClr val="99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1868" y="3337560"/>
            <a:ext cx="21328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关键节点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1868" y="3730752"/>
            <a:ext cx="211455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建立产品代际库存台账、毛利率桥和现金转化桥。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[14]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0737" y="2487168"/>
            <a:ext cx="566928" cy="566928"/>
          </a:xfrm>
          <a:prstGeom prst="rect">
            <a:avLst/>
          </a:prstGeom>
          <a:solidFill>
            <a:srgbClr val="990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0737" y="3337560"/>
            <a:ext cx="213283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关键节点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0737" y="3730752"/>
            <a:ext cx="211455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按月审出口与采购风险，按季审客户集中和库存。</a:t>
            </a:r>
            <a:r>
              <a:rPr sz="9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336792"/>
            <a:ext cx="96469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参考：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[8]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7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[9]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[1]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nvidia_fy2022_fy2026_financials.csv. type table, rows 1:8, char_start 0, char_end 1066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9696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[2]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management_risk_monitor.csv. type table, rows 1:7, char_start 0, char_end 807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0662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[3]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NVIDIA_FY2022_FY2026年报摘要.pdf. type pdf, p. 1, char_start 0, char_end 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73552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[4]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NVIDIA经营风险观察备忘录.docx. type word_table, table 1, char_start 0, char_end 277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40480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[5]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NVIDIA经营风险观察备忘录.docx. type word, para. 9, char_start 0, char_end 195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0740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[6]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nvidia_business_mix.csv. type table, rows 1:6, char_start 0, char_end 602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974336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[7]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NVIDIA经营风险观察备忘录.docx. type word, para. 15, char_start 0, char_end 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41264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[8]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nvidia_fy2022_fy2026_financials.csv. type table, rows 1:8, char_start 916, char_end 1637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13232"/>
            <a:ext cx="164592" cy="16459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64008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02368" y="237744"/>
            <a:ext cx="1508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FINFLOW STUDIO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261872"/>
            <a:ext cx="10442448" cy="16459"/>
          </a:xfrm>
          <a:prstGeom prst="rect">
            <a:avLst/>
          </a:prstGeom>
          <a:solidFill>
            <a:srgbClr val="DF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4512" y="6364224"/>
            <a:ext cx="320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800" b="0">
                <a:solidFill>
                  <a:srgbClr val="6F768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4208" y="566928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1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参考文献（续）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9966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[9]</a:t>
            </a:r>
            <a:r>
              <a:rPr sz="1100" b="0">
                <a:solidFill>
                  <a:srgbClr val="22252B"/>
                </a:solidFill>
                <a:latin typeface="Microsoft YaHei"/>
                <a:ea typeface="Microsoft YaHei"/>
                <a:cs typeface="Microsoft YaHei"/>
              </a:rPr>
              <a:t> NVIDIA经营风险观察备忘录.docx. type word, para. 13, char_start 0, char_end 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